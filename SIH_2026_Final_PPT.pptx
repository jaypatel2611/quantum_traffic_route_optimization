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8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AA41"/>
    <a:srgbClr val="2B9F59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B7D6-4579-9882-D863-C287EFB7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2568E-D39E-0390-4F4E-CFAB64957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7B119-666D-E650-49E8-ECDE6FC0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3392E-B5CF-52B1-C3DA-94E2F336C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22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5.21887" TargetMode="External"/><Relationship Id="rId3" Type="http://schemas.openxmlformats.org/officeDocument/2006/relationships/hyperlink" Target="https://mdpi.com/2227-7390/10/22/4168" TargetMode="External"/><Relationship Id="rId7" Type="http://schemas.openxmlformats.org/officeDocument/2006/relationships/hyperlink" Target="https://fastapi.tiangolo.com/reference/sse" TargetMode="External"/><Relationship Id="rId12" Type="http://schemas.openxmlformats.org/officeDocument/2006/relationships/hyperlink" Target="https://github.com/Jaypatel2611/Quantum_Traffic_Route_Optimiz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pert.emisia.com/" TargetMode="External"/><Relationship Id="rId11" Type="http://schemas.openxmlformats.org/officeDocument/2006/relationships/hyperlink" Target="https://youtu.be/ya-_0dS80G8" TargetMode="External"/><Relationship Id="rId5" Type="http://schemas.openxmlformats.org/officeDocument/2006/relationships/hyperlink" Target="https://osmnx.readthedocs.io/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developers.google.com/optimization/routing/vrp" TargetMode="External"/><Relationship Id="rId9" Type="http://schemas.openxmlformats.org/officeDocument/2006/relationships/hyperlink" Target="https://openstreetmap.org/copyrigh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0363200" cy="4317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SIH26137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Quantum-Inspired Intelligent Traffic Route Optimization in Transportation Systems Using Metaheuristic Optimization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165121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AlgoNauts_LJIET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564" y="53455"/>
            <a:ext cx="168606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AlgoNauts LJIET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654" y="1501"/>
            <a:ext cx="1805281" cy="852420"/>
          </a:xfrm>
          <a:prstGeom prst="rect">
            <a:avLst/>
          </a:prstGeom>
        </p:spPr>
      </p:pic>
      <p:sp>
        <p:nvSpPr>
          <p:cNvPr id="26" name="Content Placeholder 19">
            <a:extLst>
              <a:ext uri="{FF2B5EF4-FFF2-40B4-BE49-F238E27FC236}">
                <a16:creationId xmlns:a16="http://schemas.microsoft.com/office/drawing/2014/main" id="{0E9D3007-D03A-BBAC-9254-729D693CFB07}"/>
              </a:ext>
            </a:extLst>
          </p:cNvPr>
          <p:cNvSpPr txBox="1">
            <a:spLocks/>
          </p:cNvSpPr>
          <p:nvPr/>
        </p:nvSpPr>
        <p:spPr bwMode="auto">
          <a:xfrm>
            <a:off x="347405" y="961868"/>
            <a:ext cx="6328697" cy="575960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10000"/>
              </a:buClr>
              <a:buNone/>
            </a:pPr>
            <a:r>
              <a:rPr lang="en-US" sz="3000" b="1" dirty="0">
                <a:solidFill>
                  <a:srgbClr val="2B9F59"/>
                </a:solidFill>
              </a:rPr>
              <a:t>❖ Proposed Solution:</a:t>
            </a:r>
            <a:endParaRPr lang="en-US" sz="1800" b="1" u="heavy" dirty="0">
              <a:solidFill>
                <a:srgbClr val="2B9F59"/>
              </a:solidFill>
            </a:endParaRP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Real Street Maps </a:t>
            </a:r>
            <a:r>
              <a:rPr lang="en-US" sz="1800" dirty="0"/>
              <a:t>: Loads real, live road networks for any Indian city, instantly.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Two Brains Compare </a:t>
            </a:r>
            <a:r>
              <a:rPr lang="en-US" sz="1800" dirty="0"/>
              <a:t>: A classical planner and our quantum-inspired planner run side by side, so you always see the smarter route.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Live Thinking Chart </a:t>
            </a:r>
            <a:r>
              <a:rPr lang="en-US" sz="1800" dirty="0"/>
              <a:t>: Watch the quantum planner explore thousands of options in real time.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Handles Real Accidents </a:t>
            </a:r>
            <a:r>
              <a:rPr lang="en-US" sz="1800" dirty="0"/>
              <a:t>: Detects a road disruption and re-routes every affected delivery automatically.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Green Impact Dashboard </a:t>
            </a:r>
            <a:r>
              <a:rPr lang="en-US" sz="1800" dirty="0"/>
              <a:t>: Reports the exact fuel and CO2 saved on every single plan.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City-Wide Load Balancing </a:t>
            </a:r>
            <a:r>
              <a:rPr lang="en-US" sz="1800" dirty="0"/>
              <a:t>: Spreads many delivery fleets across different roads so no single street gets overloaded.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Secure Multi-Tenant Access </a:t>
            </a:r>
            <a:r>
              <a:rPr lang="en-US" sz="1800" dirty="0"/>
              <a:t>:  Every company or city team gets its own secure login and fully private data.</a:t>
            </a:r>
          </a:p>
          <a:p>
            <a:pPr>
              <a:buClr>
                <a:srgbClr val="010000"/>
              </a:buClr>
            </a:pPr>
            <a:r>
              <a:rPr lang="en-US" sz="18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Scales With Demand </a:t>
            </a:r>
            <a:r>
              <a:rPr lang="en-US" sz="1800" dirty="0"/>
              <a:t>:  Runs many optimizations at once, automatically adding more computing power as needed.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AC49574-7AB7-5BBB-85A6-3DEDC43DB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66" y="952036"/>
            <a:ext cx="5036464" cy="5769442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BA598FF-3D38-2D37-81F7-89230CA95B03}"/>
              </a:ext>
            </a:extLst>
          </p:cNvPr>
          <p:cNvSpPr/>
          <p:nvPr/>
        </p:nvSpPr>
        <p:spPr>
          <a:xfrm>
            <a:off x="5201263" y="79408"/>
            <a:ext cx="2949678" cy="69660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572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34" y="1501"/>
            <a:ext cx="1381601" cy="608902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71EC32D9-080E-2B8B-91D9-8094E8C717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564" y="53455"/>
            <a:ext cx="1686063" cy="6089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AlgoNauts LJIET</a:t>
            </a:r>
            <a:endParaRPr lang="en-IN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E557D72-0B8C-92A3-927D-6792598B2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5805" y="879798"/>
            <a:ext cx="6165921" cy="2776722"/>
          </a:xfrm>
          <a:ln w="19050">
            <a:solidFill>
              <a:schemeClr val="tx1"/>
            </a:solidFill>
          </a:ln>
        </p:spPr>
        <p:txBody>
          <a:bodyPr/>
          <a:lstStyle/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API &amp; Orchestration</a:t>
            </a:r>
            <a:r>
              <a:rPr lang="en-US" sz="1600" dirty="0"/>
              <a:t>: FastAPI (Python, async, Pydantic-validated)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Routing Solvers</a:t>
            </a:r>
            <a:r>
              <a:rPr lang="en-US" sz="1600" dirty="0"/>
              <a:t>: Google OR-Tools (classical) + QPSO (in-house, quantum-inspired) 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Job Execution</a:t>
            </a:r>
            <a:r>
              <a:rPr lang="en-US" sz="1600" dirty="0"/>
              <a:t>: Celery + Redis — horizontally scalable workers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Geospatial Data</a:t>
            </a:r>
            <a:r>
              <a:rPr lang="en-US" sz="1600" dirty="0"/>
              <a:t>: PostgreSQL + PostGIS, OSMnx-derived road graphs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Emission Modeling </a:t>
            </a:r>
            <a:r>
              <a:rPr lang="en-US" sz="1600" dirty="0"/>
              <a:t>: COPERT (EMEP/EEA formula)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Real-Time Streaming </a:t>
            </a:r>
            <a:r>
              <a:rPr lang="en-US" sz="1600" dirty="0"/>
              <a:t>: Server-Sent Events over Redis Pub/Sub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Frontend  </a:t>
            </a:r>
            <a:r>
              <a:rPr lang="en-US" sz="1600" dirty="0"/>
              <a:t>: React + TypeScript + MapLibre GL</a:t>
            </a:r>
          </a:p>
          <a:p>
            <a:pPr>
              <a:buClr>
                <a:srgbClr val="010000"/>
              </a:buClr>
            </a:pPr>
            <a:r>
              <a:rPr lang="en-US" sz="16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Platform </a:t>
            </a:r>
            <a:r>
              <a:rPr lang="en-US" sz="1600" dirty="0"/>
              <a:t>: Auth0 / Keycloak · Docker · GitHub Actions · Grafana</a:t>
            </a:r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3DC5FF58-B0A6-5EA0-C789-B45AB11B1A4E}"/>
              </a:ext>
            </a:extLst>
          </p:cNvPr>
          <p:cNvSpPr txBox="1">
            <a:spLocks/>
          </p:cNvSpPr>
          <p:nvPr/>
        </p:nvSpPr>
        <p:spPr bwMode="auto">
          <a:xfrm>
            <a:off x="6617110" y="870511"/>
            <a:ext cx="5278284" cy="585096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18BE7DC-B950-267B-D584-B1272F50CF3C}"/>
              </a:ext>
            </a:extLst>
          </p:cNvPr>
          <p:cNvSpPr txBox="1">
            <a:spLocks/>
          </p:cNvSpPr>
          <p:nvPr/>
        </p:nvSpPr>
        <p:spPr bwMode="auto">
          <a:xfrm>
            <a:off x="245806" y="3819644"/>
            <a:ext cx="6165920" cy="290183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00E16A-9920-24AB-9344-6B2AE23D6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889" y="1178155"/>
            <a:ext cx="4857679" cy="5235677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38D7118-9D38-195F-1768-7DB43FD19C0B}"/>
              </a:ext>
            </a:extLst>
          </p:cNvPr>
          <p:cNvSpPr/>
          <p:nvPr/>
        </p:nvSpPr>
        <p:spPr>
          <a:xfrm>
            <a:off x="3275236" y="74472"/>
            <a:ext cx="6272980" cy="69660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1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 APPROACH</a:t>
            </a:r>
            <a:endParaRPr lang="en-US" sz="36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81C93-28BE-3B13-ADDA-D7F2B06DA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72" y="3858628"/>
            <a:ext cx="6083786" cy="2823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64EA-EDAB-3C54-6C4E-7AC0994E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17">
            <a:extLst>
              <a:ext uri="{FF2B5EF4-FFF2-40B4-BE49-F238E27FC236}">
                <a16:creationId xmlns:a16="http://schemas.microsoft.com/office/drawing/2014/main" id="{4CC93A7A-EC3D-78FA-46D3-C3EE7F421A6F}"/>
              </a:ext>
            </a:extLst>
          </p:cNvPr>
          <p:cNvSpPr/>
          <p:nvPr/>
        </p:nvSpPr>
        <p:spPr>
          <a:xfrm>
            <a:off x="186814" y="3009053"/>
            <a:ext cx="4867448" cy="3726524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6C3BE8-1D65-ED1E-41F1-83A0FFE5A7B5}"/>
              </a:ext>
            </a:extLst>
          </p:cNvPr>
          <p:cNvSpPr/>
          <p:nvPr/>
        </p:nvSpPr>
        <p:spPr>
          <a:xfrm>
            <a:off x="3154680" y="1371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B22604-8BE5-C1FA-0244-42245C9266C6}"/>
              </a:ext>
            </a:extLst>
          </p:cNvPr>
          <p:cNvSpPr/>
          <p:nvPr/>
        </p:nvSpPr>
        <p:spPr>
          <a:xfrm>
            <a:off x="1033272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7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DE30403-B70A-8693-5DB0-CBDB0E57B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34" y="1501"/>
            <a:ext cx="1381601" cy="608902"/>
          </a:xfrm>
          <a:prstGeom prst="rect">
            <a:avLst/>
          </a:prstGeom>
        </p:spPr>
      </p:pic>
      <p:sp>
        <p:nvSpPr>
          <p:cNvPr id="33" name="Oval 32" descr="Your startup LOGO">
            <a:extLst>
              <a:ext uri="{FF2B5EF4-FFF2-40B4-BE49-F238E27FC236}">
                <a16:creationId xmlns:a16="http://schemas.microsoft.com/office/drawing/2014/main" id="{B33CEC66-EC98-E397-E06C-5130B51EC1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564" y="53455"/>
            <a:ext cx="1686063" cy="6089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AlgoNauts LJIET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953535A-4611-454D-38E2-33F4B13E0A67}"/>
              </a:ext>
            </a:extLst>
          </p:cNvPr>
          <p:cNvSpPr/>
          <p:nvPr/>
        </p:nvSpPr>
        <p:spPr>
          <a:xfrm>
            <a:off x="2752169" y="122423"/>
            <a:ext cx="6996061" cy="69660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1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75FA0-9ABA-A591-5F55-66CDBC435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5404" y="3065077"/>
            <a:ext cx="4667755" cy="3568428"/>
          </a:xfrm>
        </p:spPr>
        <p:txBody>
          <a:bodyPr/>
          <a:lstStyle/>
          <a:p>
            <a:r>
              <a:rPr lang="en-US" sz="2000" b="1" dirty="0">
                <a:solidFill>
                  <a:srgbClr val="002060"/>
                </a:solidFill>
              </a:rPr>
              <a:t>❖ </a:t>
            </a:r>
            <a:r>
              <a:rPr lang="en-US" sz="2000" b="1" u="heavy" dirty="0">
                <a:solidFill>
                  <a:srgbClr val="002060"/>
                </a:solidFill>
              </a:rPr>
              <a:t>Risks &amp; Fixes</a:t>
            </a:r>
            <a:r>
              <a:rPr lang="en-US" sz="2000" b="1" dirty="0">
                <a:solidFill>
                  <a:srgbClr val="002060"/>
                </a:solidFill>
              </a:rPr>
              <a:t>:</a:t>
            </a:r>
          </a:p>
          <a:p>
            <a:pPr marL="342900" indent="-342900">
              <a:buAutoNum type="arabicPeriod"/>
            </a:pPr>
            <a:r>
              <a:rPr lang="en-US" b="1" u="sng" dirty="0"/>
              <a:t>Onboarding Load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Risk:</a:t>
            </a:r>
            <a:r>
              <a:rPr lang="en-US" dirty="0"/>
              <a:t> Large graph ingestion can bottleneck new cities.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3CAA41"/>
                </a:solidFill>
              </a:rPr>
              <a:t>Fix:</a:t>
            </a:r>
            <a:r>
              <a:rPr lang="en-US" dirty="0"/>
              <a:t> Async pre-fetch/cache queue ahead of demand.</a:t>
            </a:r>
          </a:p>
          <a:p>
            <a:pPr marL="342900" indent="-342900">
              <a:buAutoNum type="arabicPeriod"/>
            </a:pPr>
            <a:endParaRPr lang="en-US" b="1" u="sng" dirty="0"/>
          </a:p>
          <a:p>
            <a:pPr marL="342900" indent="-342900">
              <a:buAutoNum type="arabicPeriod" startAt="2"/>
            </a:pPr>
            <a:r>
              <a:rPr lang="en-US" b="1" u="sng" dirty="0"/>
              <a:t>QPSO Mid-Scale Gap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Risk:</a:t>
            </a:r>
            <a:r>
              <a:rPr lang="en-US" dirty="0"/>
              <a:t> Trails classical baseline at ~15 nodes.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3CAA41"/>
                </a:solidFill>
              </a:rPr>
              <a:t>Fix:</a:t>
            </a:r>
            <a:r>
              <a:rPr lang="en-US" dirty="0"/>
              <a:t> Root-caused, tracked, active fix in progress.</a:t>
            </a:r>
          </a:p>
          <a:p>
            <a:endParaRPr lang="en-US" dirty="0"/>
          </a:p>
          <a:p>
            <a:pPr marL="342900" indent="-342900">
              <a:buAutoNum type="arabicPeriod" startAt="3"/>
            </a:pPr>
            <a:r>
              <a:rPr lang="en-US" b="1" u="sng" dirty="0"/>
              <a:t>Data Isolation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Risk:</a:t>
            </a:r>
            <a:r>
              <a:rPr lang="en-US" dirty="0"/>
              <a:t> Shared infra raises tenant-leak stakes.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3CAA41"/>
                </a:solidFill>
              </a:rPr>
              <a:t>Fix:</a:t>
            </a:r>
            <a:r>
              <a:rPr lang="en-US" dirty="0"/>
              <a:t> DB row security + managed auth (Auth0).</a:t>
            </a:r>
          </a:p>
          <a:p>
            <a:pPr marL="342900" indent="-342900">
              <a:buAutoNum type="arabicPeriod" startAt="3"/>
            </a:pPr>
            <a:endParaRPr lang="en-US" b="1" u="sng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DF717A03-0F13-DD96-9FAA-73752E5084A1}"/>
              </a:ext>
            </a:extLst>
          </p:cNvPr>
          <p:cNvSpPr/>
          <p:nvPr/>
        </p:nvSpPr>
        <p:spPr>
          <a:xfrm>
            <a:off x="186813" y="915049"/>
            <a:ext cx="11700387" cy="1965803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5CF43335-D338-36EE-EC2B-88800C5139A4}"/>
              </a:ext>
            </a:extLst>
          </p:cNvPr>
          <p:cNvSpPr/>
          <p:nvPr/>
        </p:nvSpPr>
        <p:spPr>
          <a:xfrm>
            <a:off x="309476" y="1000633"/>
            <a:ext cx="4006236" cy="31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  </a:t>
            </a:r>
            <a:r>
              <a:rPr lang="en-US" sz="2000" b="1" u="sng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r>
              <a:rPr lang="en-US" sz="20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B00220F2-C95C-DE01-D22F-453EF5645A4C}"/>
              </a:ext>
            </a:extLst>
          </p:cNvPr>
          <p:cNvSpPr/>
          <p:nvPr/>
        </p:nvSpPr>
        <p:spPr>
          <a:xfrm>
            <a:off x="368914" y="1424524"/>
            <a:ext cx="4006236" cy="12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Technical</a:t>
            </a:r>
            <a:endParaRPr lang="en-US" sz="16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B94FB0-0250-68F4-36BD-11719712D374}"/>
              </a:ext>
            </a:extLst>
          </p:cNvPr>
          <p:cNvGrpSpPr/>
          <p:nvPr/>
        </p:nvGrpSpPr>
        <p:grpSpPr>
          <a:xfrm>
            <a:off x="460351" y="1840200"/>
            <a:ext cx="3750523" cy="846909"/>
            <a:chOff x="886501" y="1830763"/>
            <a:chExt cx="3896975" cy="846909"/>
          </a:xfrm>
        </p:grpSpPr>
        <p:sp>
          <p:nvSpPr>
            <p:cNvPr id="51" name="Text 9">
              <a:extLst>
                <a:ext uri="{FF2B5EF4-FFF2-40B4-BE49-F238E27FC236}">
                  <a16:creationId xmlns:a16="http://schemas.microsoft.com/office/drawing/2014/main" id="{BF9C0580-5DF5-5E10-7EC9-31CBA47B2891}"/>
                </a:ext>
              </a:extLst>
            </p:cNvPr>
            <p:cNvSpPr/>
            <p:nvPr/>
          </p:nvSpPr>
          <p:spPr>
            <a:xfrm>
              <a:off x="886501" y="1830763"/>
              <a:ext cx="3896975" cy="204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solidFill>
                    <a:srgbClr val="2E6BE6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4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Every component (FastAPI, Celery, PostgreSQL+PostGIS, Redis) is mature and battle-tested — low technical risk.</a:t>
              </a:r>
              <a:endParaRPr lang="en-US" sz="1400" dirty="0">
                <a:latin typeface="TradeGothic"/>
              </a:endParaRPr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BBE8D321-EA4A-2F45-678C-4A0FC4FEEF5F}"/>
                </a:ext>
              </a:extLst>
            </p:cNvPr>
            <p:cNvSpPr/>
            <p:nvPr/>
          </p:nvSpPr>
          <p:spPr>
            <a:xfrm>
              <a:off x="886501" y="2473079"/>
              <a:ext cx="3896975" cy="204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solidFill>
                    <a:srgbClr val="2E6BE6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4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Async-first design keeps solver execution and live streaming responsive under concurrent load.</a:t>
              </a:r>
              <a:endParaRPr lang="en-US" sz="1400" dirty="0">
                <a:latin typeface="TradeGothic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EF837A6-0F78-A23B-8679-BCFE9743A2A4}"/>
              </a:ext>
            </a:extLst>
          </p:cNvPr>
          <p:cNvGrpSpPr/>
          <p:nvPr/>
        </p:nvGrpSpPr>
        <p:grpSpPr>
          <a:xfrm>
            <a:off x="4375151" y="1318152"/>
            <a:ext cx="4006236" cy="1527673"/>
            <a:chOff x="777240" y="2971800"/>
            <a:chExt cx="5029200" cy="1341304"/>
          </a:xfrm>
        </p:grpSpPr>
        <p:sp>
          <p:nvSpPr>
            <p:cNvPr id="61" name="Text 11">
              <a:extLst>
                <a:ext uri="{FF2B5EF4-FFF2-40B4-BE49-F238E27FC236}">
                  <a16:creationId xmlns:a16="http://schemas.microsoft.com/office/drawing/2014/main" id="{B4C3ACB1-1076-F5BD-0D40-5B017EFA3F4E}"/>
                </a:ext>
              </a:extLst>
            </p:cNvPr>
            <p:cNvSpPr/>
            <p:nvPr/>
          </p:nvSpPr>
          <p:spPr>
            <a:xfrm>
              <a:off x="777240" y="297180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u="sng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Operational</a:t>
              </a:r>
              <a:endParaRPr lang="en-US" sz="1600" dirty="0"/>
            </a:p>
          </p:txBody>
        </p:sp>
        <p:sp>
          <p:nvSpPr>
            <p:cNvPr id="63" name="Text 12">
              <a:extLst>
                <a:ext uri="{FF2B5EF4-FFF2-40B4-BE49-F238E27FC236}">
                  <a16:creationId xmlns:a16="http://schemas.microsoft.com/office/drawing/2014/main" id="{1EC0945F-76CE-9981-C162-6A65717DB5CE}"/>
                </a:ext>
              </a:extLst>
            </p:cNvPr>
            <p:cNvSpPr/>
            <p:nvPr/>
          </p:nvSpPr>
          <p:spPr>
            <a:xfrm>
              <a:off x="914400" y="3282696"/>
              <a:ext cx="4892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E6BE6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4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Deploys on managed services (RDS, Upstash, Auth0) — no infrastructure built from scratch, no Kubernetes required.</a:t>
              </a:r>
              <a:endParaRPr lang="en-US" sz="1400" dirty="0">
                <a:latin typeface="TradeGothic"/>
              </a:endParaRPr>
            </a:p>
          </p:txBody>
        </p:sp>
        <p:sp>
          <p:nvSpPr>
            <p:cNvPr id="65" name="Text 13">
              <a:extLst>
                <a:ext uri="{FF2B5EF4-FFF2-40B4-BE49-F238E27FC236}">
                  <a16:creationId xmlns:a16="http://schemas.microsoft.com/office/drawing/2014/main" id="{0D82190F-849F-FEF0-952C-867BF9163E16}"/>
                </a:ext>
              </a:extLst>
            </p:cNvPr>
            <p:cNvSpPr/>
            <p:nvPr/>
          </p:nvSpPr>
          <p:spPr>
            <a:xfrm>
              <a:off x="914398" y="3855904"/>
              <a:ext cx="4892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solidFill>
                    <a:srgbClr val="2E6BE6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4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Standard managed tiers exist for every component, so ops overhead stays low as usage grows.</a:t>
              </a:r>
              <a:endParaRPr lang="en-US" sz="1400" dirty="0">
                <a:latin typeface="TradeGothic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FAC72B7-4210-9581-D243-813B65685C34}"/>
              </a:ext>
            </a:extLst>
          </p:cNvPr>
          <p:cNvGrpSpPr/>
          <p:nvPr/>
        </p:nvGrpSpPr>
        <p:grpSpPr>
          <a:xfrm>
            <a:off x="8326966" y="1370261"/>
            <a:ext cx="3358837" cy="1475564"/>
            <a:chOff x="777240" y="4251960"/>
            <a:chExt cx="5029200" cy="1345802"/>
          </a:xfrm>
        </p:grpSpPr>
        <p:sp>
          <p:nvSpPr>
            <p:cNvPr id="75" name="Text 14">
              <a:extLst>
                <a:ext uri="{FF2B5EF4-FFF2-40B4-BE49-F238E27FC236}">
                  <a16:creationId xmlns:a16="http://schemas.microsoft.com/office/drawing/2014/main" id="{94750574-57F6-C55B-5FD8-1B654C946129}"/>
                </a:ext>
              </a:extLst>
            </p:cNvPr>
            <p:cNvSpPr/>
            <p:nvPr/>
          </p:nvSpPr>
          <p:spPr>
            <a:xfrm>
              <a:off x="777240" y="425196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u="sng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Algorithm Core Unchanged</a:t>
              </a:r>
              <a:endParaRPr lang="en-US" sz="1600" dirty="0"/>
            </a:p>
          </p:txBody>
        </p:sp>
        <p:sp>
          <p:nvSpPr>
            <p:cNvPr id="76" name="Text 15">
              <a:extLst>
                <a:ext uri="{FF2B5EF4-FFF2-40B4-BE49-F238E27FC236}">
                  <a16:creationId xmlns:a16="http://schemas.microsoft.com/office/drawing/2014/main" id="{190BDFD0-834A-0921-6E13-D4EC870A0A1B}"/>
                </a:ext>
              </a:extLst>
            </p:cNvPr>
            <p:cNvSpPr/>
            <p:nvPr/>
          </p:nvSpPr>
          <p:spPr>
            <a:xfrm>
              <a:off x="914400" y="4562856"/>
              <a:ext cx="4892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solidFill>
                    <a:srgbClr val="2E6BE6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4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Solver layer (OR-Tools, QPSO, COPERT) is already built and tested — this adds infrastructure, not algorithm risk.</a:t>
              </a:r>
              <a:endParaRPr lang="en-US" sz="1400" dirty="0">
                <a:latin typeface="TradeGothic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269B2A99-152F-E292-9FAE-0237F656536E}"/>
                </a:ext>
              </a:extLst>
            </p:cNvPr>
            <p:cNvSpPr/>
            <p:nvPr/>
          </p:nvSpPr>
          <p:spPr>
            <a:xfrm>
              <a:off x="914401" y="5140562"/>
              <a:ext cx="489203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solidFill>
                    <a:srgbClr val="2E6BE6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4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99+ automated tests already cover the solver, emissions, and API layers end to end.</a:t>
              </a:r>
              <a:endParaRPr lang="en-US" sz="1400" dirty="0">
                <a:latin typeface="TradeGothic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5569A8F-0EE0-B288-7AD6-F96C541E0B18}"/>
              </a:ext>
            </a:extLst>
          </p:cNvPr>
          <p:cNvGrpSpPr/>
          <p:nvPr/>
        </p:nvGrpSpPr>
        <p:grpSpPr>
          <a:xfrm>
            <a:off x="5220920" y="3009053"/>
            <a:ext cx="6666280" cy="3726524"/>
            <a:chOff x="5852734" y="3009053"/>
            <a:chExt cx="6034466" cy="3726524"/>
          </a:xfrm>
        </p:grpSpPr>
        <p:sp>
          <p:nvSpPr>
            <p:cNvPr id="81" name="Shape 17">
              <a:extLst>
                <a:ext uri="{FF2B5EF4-FFF2-40B4-BE49-F238E27FC236}">
                  <a16:creationId xmlns:a16="http://schemas.microsoft.com/office/drawing/2014/main" id="{F3BCC3F8-5B8D-5B5F-5EED-0A78D483EF31}"/>
                </a:ext>
              </a:extLst>
            </p:cNvPr>
            <p:cNvSpPr/>
            <p:nvPr/>
          </p:nvSpPr>
          <p:spPr>
            <a:xfrm>
              <a:off x="5852734" y="3009053"/>
              <a:ext cx="6034466" cy="3726524"/>
            </a:xfrm>
            <a:prstGeom prst="roundRect">
              <a:avLst>
                <a:gd name="adj" fmla="val 833"/>
              </a:avLst>
            </a:prstGeom>
            <a:solidFill>
              <a:srgbClr val="FFFFFF"/>
            </a:solidFill>
            <a:ln w="15875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" name="Text 18">
              <a:extLst>
                <a:ext uri="{FF2B5EF4-FFF2-40B4-BE49-F238E27FC236}">
                  <a16:creationId xmlns:a16="http://schemas.microsoft.com/office/drawing/2014/main" id="{D04C38B7-5C1A-4906-D5F5-4DE171519735}"/>
                </a:ext>
              </a:extLst>
            </p:cNvPr>
            <p:cNvSpPr/>
            <p:nvPr/>
          </p:nvSpPr>
          <p:spPr>
            <a:xfrm>
              <a:off x="6104170" y="3058213"/>
              <a:ext cx="5531594" cy="2731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E8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❖  </a:t>
              </a:r>
              <a:r>
                <a:rPr lang="en-US" sz="2000" b="1" u="sng" dirty="0">
                  <a:solidFill>
                    <a:srgbClr val="1E8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Viability</a:t>
              </a:r>
              <a:r>
                <a:rPr lang="en-US" sz="2000" b="1" dirty="0">
                  <a:solidFill>
                    <a:srgbClr val="1E8F4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endParaRPr lang="en-US" sz="2000" dirty="0"/>
            </a:p>
          </p:txBody>
        </p:sp>
        <p:sp>
          <p:nvSpPr>
            <p:cNvPr id="83" name="Text 19">
              <a:extLst>
                <a:ext uri="{FF2B5EF4-FFF2-40B4-BE49-F238E27FC236}">
                  <a16:creationId xmlns:a16="http://schemas.microsoft.com/office/drawing/2014/main" id="{8C6928B9-618A-5B09-F4C4-EAADEEC73866}"/>
                </a:ext>
              </a:extLst>
            </p:cNvPr>
            <p:cNvSpPr/>
            <p:nvPr/>
          </p:nvSpPr>
          <p:spPr>
            <a:xfrm>
              <a:off x="6204745" y="3433290"/>
              <a:ext cx="5531594" cy="231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u="sng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Horizontally Scalable by Design</a:t>
              </a:r>
              <a:endParaRPr lang="en-US" sz="1600" dirty="0"/>
            </a:p>
          </p:txBody>
        </p:sp>
        <p:sp>
          <p:nvSpPr>
            <p:cNvPr id="84" name="Text 20">
              <a:extLst>
                <a:ext uri="{FF2B5EF4-FFF2-40B4-BE49-F238E27FC236}">
                  <a16:creationId xmlns:a16="http://schemas.microsoft.com/office/drawing/2014/main" id="{A9269697-C783-4268-B187-F3476372A42D}"/>
                </a:ext>
              </a:extLst>
            </p:cNvPr>
            <p:cNvSpPr/>
            <p:nvPr/>
          </p:nvSpPr>
          <p:spPr>
            <a:xfrm>
              <a:off x="6355606" y="3586611"/>
              <a:ext cx="5380732" cy="385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300" dirty="0">
                  <a:solidFill>
                    <a:srgbClr val="1E8F4E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3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Celery + Redis workers scale by adding replicas, not by redesigning the job pipeline.</a:t>
              </a:r>
              <a:endParaRPr lang="en-US" sz="1300" dirty="0">
                <a:latin typeface="TradeGothic"/>
              </a:endParaRPr>
            </a:p>
          </p:txBody>
        </p:sp>
        <p:sp>
          <p:nvSpPr>
            <p:cNvPr id="85" name="Text 21">
              <a:extLst>
                <a:ext uri="{FF2B5EF4-FFF2-40B4-BE49-F238E27FC236}">
                  <a16:creationId xmlns:a16="http://schemas.microsoft.com/office/drawing/2014/main" id="{EA596B20-3B2D-EBF9-478B-1D0B1E49C57E}"/>
                </a:ext>
              </a:extLst>
            </p:cNvPr>
            <p:cNvSpPr/>
            <p:nvPr/>
          </p:nvSpPr>
          <p:spPr>
            <a:xfrm>
              <a:off x="6355608" y="3981773"/>
              <a:ext cx="5380732" cy="385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300" dirty="0">
                  <a:solidFill>
                    <a:srgbClr val="1E8F4E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3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Multi-city onboarding is a background data job, not a code change, via automated OSMnx ingestion.</a:t>
              </a:r>
              <a:endParaRPr lang="en-US" sz="1300" dirty="0">
                <a:latin typeface="TradeGothic"/>
              </a:endParaRPr>
            </a:p>
          </p:txBody>
        </p:sp>
        <p:sp>
          <p:nvSpPr>
            <p:cNvPr id="86" name="Text 22">
              <a:extLst>
                <a:ext uri="{FF2B5EF4-FFF2-40B4-BE49-F238E27FC236}">
                  <a16:creationId xmlns:a16="http://schemas.microsoft.com/office/drawing/2014/main" id="{476F8696-2FB0-94E7-EE46-8A76F30D28E0}"/>
                </a:ext>
              </a:extLst>
            </p:cNvPr>
            <p:cNvSpPr/>
            <p:nvPr/>
          </p:nvSpPr>
          <p:spPr>
            <a:xfrm>
              <a:off x="6204745" y="4405180"/>
              <a:ext cx="5531594" cy="231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u="sng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Cost-Efficient at Every Stage</a:t>
              </a:r>
              <a:endParaRPr lang="en-US" sz="1600" dirty="0"/>
            </a:p>
          </p:txBody>
        </p:sp>
        <p:sp>
          <p:nvSpPr>
            <p:cNvPr id="87" name="Text 23">
              <a:extLst>
                <a:ext uri="{FF2B5EF4-FFF2-40B4-BE49-F238E27FC236}">
                  <a16:creationId xmlns:a16="http://schemas.microsoft.com/office/drawing/2014/main" id="{A5AA7FD8-B2EB-AD5B-E356-28D7DDDFB604}"/>
                </a:ext>
              </a:extLst>
            </p:cNvPr>
            <p:cNvSpPr/>
            <p:nvPr/>
          </p:nvSpPr>
          <p:spPr>
            <a:xfrm>
              <a:off x="6355606" y="4679480"/>
              <a:ext cx="5380732" cy="385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300" dirty="0">
                  <a:solidFill>
                    <a:srgbClr val="1E8F4E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3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Open-source core (Postgres, Redis, Celery) with managed tiers that scale with usage — no proprietary licensing.</a:t>
              </a:r>
              <a:endParaRPr lang="en-US" sz="1300" dirty="0">
                <a:latin typeface="TradeGothic"/>
              </a:endParaRPr>
            </a:p>
          </p:txBody>
        </p:sp>
        <p:sp>
          <p:nvSpPr>
            <p:cNvPr id="88" name="Text 24">
              <a:extLst>
                <a:ext uri="{FF2B5EF4-FFF2-40B4-BE49-F238E27FC236}">
                  <a16:creationId xmlns:a16="http://schemas.microsoft.com/office/drawing/2014/main" id="{138FEA11-6AFE-1AB4-3E1D-54ACE4FBC964}"/>
                </a:ext>
              </a:extLst>
            </p:cNvPr>
            <p:cNvSpPr/>
            <p:nvPr/>
          </p:nvSpPr>
          <p:spPr>
            <a:xfrm>
              <a:off x="6355606" y="5095163"/>
              <a:ext cx="5380732" cy="385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300" dirty="0">
                  <a:solidFill>
                    <a:srgbClr val="1E8F4E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3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Pay-as-you-grow infrastructure keeps early-stage costs low without a later re-architecture.</a:t>
              </a:r>
              <a:endParaRPr lang="en-US" sz="1300" dirty="0">
                <a:latin typeface="TradeGothic"/>
              </a:endParaRPr>
            </a:p>
          </p:txBody>
        </p:sp>
        <p:sp>
          <p:nvSpPr>
            <p:cNvPr id="89" name="Text 25">
              <a:extLst>
                <a:ext uri="{FF2B5EF4-FFF2-40B4-BE49-F238E27FC236}">
                  <a16:creationId xmlns:a16="http://schemas.microsoft.com/office/drawing/2014/main" id="{432A6A86-5A9C-D3FC-EDF1-0E74FC39475D}"/>
                </a:ext>
              </a:extLst>
            </p:cNvPr>
            <p:cNvSpPr/>
            <p:nvPr/>
          </p:nvSpPr>
          <p:spPr>
            <a:xfrm>
              <a:off x="6204745" y="5528505"/>
              <a:ext cx="5531594" cy="231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u="sng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Proven Differentiator, Now Deployable</a:t>
              </a:r>
              <a:endParaRPr lang="en-US" sz="1600" dirty="0"/>
            </a:p>
          </p:txBody>
        </p:sp>
        <p:sp>
          <p:nvSpPr>
            <p:cNvPr id="90" name="Text 26">
              <a:extLst>
                <a:ext uri="{FF2B5EF4-FFF2-40B4-BE49-F238E27FC236}">
                  <a16:creationId xmlns:a16="http://schemas.microsoft.com/office/drawing/2014/main" id="{F8178B42-D47E-2833-7E03-4A80E9738478}"/>
                </a:ext>
              </a:extLst>
            </p:cNvPr>
            <p:cNvSpPr/>
            <p:nvPr/>
          </p:nvSpPr>
          <p:spPr>
            <a:xfrm>
              <a:off x="6355606" y="5775833"/>
              <a:ext cx="5380732" cy="385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300" dirty="0">
                  <a:solidFill>
                    <a:srgbClr val="1E8F4E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3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COPERT-based ecological quantification and fair seeded benchmarking carry over unchanged from the validated core.</a:t>
              </a:r>
              <a:endParaRPr lang="en-US" sz="1300" dirty="0">
                <a:latin typeface="TradeGothic"/>
              </a:endParaRPr>
            </a:p>
          </p:txBody>
        </p:sp>
        <p:sp>
          <p:nvSpPr>
            <p:cNvPr id="91" name="Text 27">
              <a:extLst>
                <a:ext uri="{FF2B5EF4-FFF2-40B4-BE49-F238E27FC236}">
                  <a16:creationId xmlns:a16="http://schemas.microsoft.com/office/drawing/2014/main" id="{9B21D50F-FDAC-E89F-1C93-82439B9FCD5B}"/>
                </a:ext>
              </a:extLst>
            </p:cNvPr>
            <p:cNvSpPr/>
            <p:nvPr/>
          </p:nvSpPr>
          <p:spPr>
            <a:xfrm>
              <a:off x="6355606" y="6185840"/>
              <a:ext cx="5380732" cy="385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300" dirty="0">
                  <a:solidFill>
                    <a:srgbClr val="1E8F4E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•  </a:t>
              </a:r>
              <a:r>
                <a:rPr lang="en-US" sz="1300" dirty="0">
                  <a:solidFill>
                    <a:srgbClr val="555555"/>
                  </a:solidFill>
                  <a:latin typeface="TradeGothic"/>
                  <a:ea typeface="Calibri" pitchFamily="34" charset="-122"/>
                  <a:cs typeface="Calibri" pitchFamily="34" charset="-120"/>
                </a:rPr>
                <a:t>Real, measured 7.6% CO2 reduction at city scale — a concrete number, not a projection.</a:t>
              </a:r>
              <a:endParaRPr lang="en-US" sz="1300" dirty="0">
                <a:latin typeface="Trade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73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9251FF-2029-B534-EA58-0E8FDBD28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34" y="1501"/>
            <a:ext cx="1381601" cy="608902"/>
          </a:xfrm>
          <a:prstGeom prst="rect">
            <a:avLst/>
          </a:prstGeom>
        </p:spPr>
      </p:pic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CF71FB62-CEB0-08F0-CDD1-7877318A07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564" y="53455"/>
            <a:ext cx="1686063" cy="6089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AlgoNauts LJIET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E0196C-1886-7843-D8A1-D05440829032}"/>
              </a:ext>
            </a:extLst>
          </p:cNvPr>
          <p:cNvSpPr/>
          <p:nvPr/>
        </p:nvSpPr>
        <p:spPr>
          <a:xfrm>
            <a:off x="2959510" y="59479"/>
            <a:ext cx="6272980" cy="69660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1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IMPACTS AND BENEFITS</a:t>
            </a:r>
            <a:endParaRPr lang="en-US" sz="36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1ACD87C1-EBF8-EFAC-971C-66435A1C26A8}"/>
              </a:ext>
            </a:extLst>
          </p:cNvPr>
          <p:cNvSpPr txBox="1">
            <a:spLocks/>
          </p:cNvSpPr>
          <p:nvPr/>
        </p:nvSpPr>
        <p:spPr bwMode="auto">
          <a:xfrm>
            <a:off x="6189955" y="863188"/>
            <a:ext cx="5561428" cy="575960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10000"/>
              </a:buClr>
              <a:buNone/>
            </a:pPr>
            <a:r>
              <a:rPr lang="en-US" sz="2000" b="1" dirty="0">
                <a:solidFill>
                  <a:schemeClr val="accent6"/>
                </a:solidFill>
              </a:rPr>
              <a:t>❖ </a:t>
            </a:r>
            <a:r>
              <a:rPr lang="en-US" sz="2000" b="1" u="heavy" dirty="0">
                <a:solidFill>
                  <a:schemeClr val="accent6"/>
                </a:solidFill>
              </a:rPr>
              <a:t>Benefits: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Economic Benefits: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Fewer wasted kilometres cut real fuel costs for every fleet.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Fewer trucks needed for the same delivery volume.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Environmental Benefits: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Real, formula-sourced reporting on every kg of CO2 avoided.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Encourages lower-emission logistics practices industry-wide.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Operational Benefits: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Automatically replans around accidents and road closures.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Many companies run jobs simultaneously without slowdown.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Trust &amp; Transparency: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Every number ships with the exact formula behind it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Fair, seeded benchmarking makes every result reproducible.</a:t>
            </a:r>
          </a:p>
        </p:txBody>
      </p:sp>
      <p:sp>
        <p:nvSpPr>
          <p:cNvPr id="25" name="Content Placeholder 19">
            <a:extLst>
              <a:ext uri="{FF2B5EF4-FFF2-40B4-BE49-F238E27FC236}">
                <a16:creationId xmlns:a16="http://schemas.microsoft.com/office/drawing/2014/main" id="{7D47A1BE-15A2-ABEF-26BF-5F8631FD609E}"/>
              </a:ext>
            </a:extLst>
          </p:cNvPr>
          <p:cNvSpPr txBox="1">
            <a:spLocks/>
          </p:cNvSpPr>
          <p:nvPr/>
        </p:nvSpPr>
        <p:spPr bwMode="auto">
          <a:xfrm>
            <a:off x="549516" y="863188"/>
            <a:ext cx="5318161" cy="575960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10000"/>
              </a:buClr>
              <a:buNone/>
            </a:pPr>
            <a:r>
              <a:rPr lang="en-US" sz="2000" b="1" dirty="0">
                <a:solidFill>
                  <a:srgbClr val="00B050"/>
                </a:solidFill>
              </a:rPr>
              <a:t>❖</a:t>
            </a:r>
            <a:r>
              <a:rPr lang="en-US" sz="2000" b="1" dirty="0"/>
              <a:t> </a:t>
            </a:r>
            <a:r>
              <a:rPr lang="en-US" sz="2000" b="1" u="heavy" dirty="0">
                <a:solidFill>
                  <a:srgbClr val="00B050"/>
                </a:solidFill>
              </a:rPr>
              <a:t>Impacts:</a:t>
            </a:r>
            <a:endParaRPr lang="en-US" sz="2000" b="1" u="heavy" dirty="0"/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Cleaner Cities: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Less fuel burned across every fleet, real city-wide change.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Supports municipal air-quality and sustainability goals.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Smarter Logistics Industry: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 Fewer trucks, less fuel, faster deliveries for any adopter.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Raises the bar for optimized routing in India.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Systemic Traffic Relief: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Balances loads across fleets, easing single-road congestion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Cuts bottlenecks from every operator picking the same route.</a:t>
            </a:r>
          </a:p>
          <a:p>
            <a:pPr>
              <a:buClr>
                <a:srgbClr val="010000"/>
              </a:buClr>
              <a:buAutoNum type="arabicPeriod"/>
            </a:pPr>
            <a:r>
              <a:rPr lang="en-US" sz="1800" dirty="0">
                <a:solidFill>
                  <a:schemeClr val="accent1"/>
                </a:solidFill>
              </a:rPr>
              <a:t>Research &amp; Benchmarking Value: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Our fair-comparison method can test any future algorithm</a:t>
            </a:r>
          </a:p>
          <a:p>
            <a:pPr lvl="1">
              <a:buClr>
                <a:srgbClr val="01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Contributes an honest QPSO-vs-classical benchmark to the field.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5" name="Content Placeholder 19">
            <a:extLst>
              <a:ext uri="{FF2B5EF4-FFF2-40B4-BE49-F238E27FC236}">
                <a16:creationId xmlns:a16="http://schemas.microsoft.com/office/drawing/2014/main" id="{B6A3D6F7-17B7-D4A3-87A9-2D2A0E2D6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276" y="1136377"/>
            <a:ext cx="11336595" cy="5570163"/>
          </a:xfrm>
          <a:ln w="19050">
            <a:solidFill>
              <a:schemeClr val="tx1"/>
            </a:solidFill>
          </a:ln>
        </p:spPr>
        <p:txBody>
          <a:bodyPr/>
          <a:lstStyle/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1. </a:t>
            </a:r>
            <a:r>
              <a:rPr lang="en-US" sz="20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QPSO Algorithm</a:t>
            </a:r>
            <a:r>
              <a:rPr lang="en-US" sz="2000" dirty="0"/>
              <a:t>: Sun, J, et al.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A Quantum-Behaved Particle Swarm Optimization Algorithm, MOPI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3"/>
              </a:rPr>
              <a:t>mdpi.com/2227-7390/10/22/4168</a:t>
            </a:r>
            <a:endParaRPr lang="en-US" sz="2000" dirty="0"/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2. </a:t>
            </a:r>
            <a:r>
              <a:rPr lang="en-US" sz="20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Google OR-Tools </a:t>
            </a:r>
            <a:r>
              <a:rPr lang="en-US" sz="2000" dirty="0"/>
              <a:t>: Classical vehicle-routing solver our fair baseline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4"/>
              </a:rPr>
              <a:t>developers.google.com/optimization/routing/</a:t>
            </a:r>
            <a:r>
              <a:rPr lang="en-US" sz="2000" dirty="0" err="1">
                <a:hlinkClick r:id="rId4"/>
              </a:rPr>
              <a:t>vrp</a:t>
            </a:r>
            <a:endParaRPr lang="en-US" sz="2000" dirty="0"/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3. </a:t>
            </a:r>
            <a:r>
              <a:rPr lang="en-US" sz="20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OSMnx </a:t>
            </a:r>
            <a:r>
              <a:rPr lang="en-US" sz="2000" dirty="0"/>
              <a:t>: Boeing, G.-real road-network data from OpenStreetMap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5"/>
              </a:rPr>
              <a:t>osmnx.readthedocs.io</a:t>
            </a:r>
            <a:endParaRPr lang="en-US" sz="2000" dirty="0"/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4. </a:t>
            </a:r>
            <a:r>
              <a:rPr lang="en-US" sz="20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COPERT Emissions Model </a:t>
            </a:r>
            <a:r>
              <a:rPr lang="en-US" sz="2000" dirty="0"/>
              <a:t>: EMEP/EEA Air Pollutant Emission Inventory Guidebook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6"/>
              </a:rPr>
              <a:t>copert.emisia.com</a:t>
            </a:r>
            <a:endParaRPr lang="en-US" sz="2000" dirty="0"/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5. </a:t>
            </a:r>
            <a:r>
              <a:rPr lang="en-US" sz="20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Server-Sent Events </a:t>
            </a:r>
            <a:r>
              <a:rPr lang="en-US" sz="2000" dirty="0"/>
              <a:t>: FastAPI SSE reference the live-chart streaming trick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7"/>
              </a:rPr>
              <a:t>fastapi.tiangolo.com/reference/</a:t>
            </a:r>
            <a:r>
              <a:rPr lang="en-US" sz="2000" dirty="0" err="1">
                <a:hlinkClick r:id="rId7"/>
              </a:rPr>
              <a:t>sse</a:t>
            </a:r>
            <a:endParaRPr lang="en-US" sz="2000" dirty="0"/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6. </a:t>
            </a:r>
            <a:r>
              <a:rPr lang="en-US" sz="20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SVRPBench </a:t>
            </a:r>
            <a:r>
              <a:rPr lang="en-US" sz="2000" dirty="0"/>
              <a:t>: NeurIPS 2025 Datasets &amp; Benchmarks, MBZUAI-stochastic traffic modeling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2000" dirty="0"/>
              <a:t>	</a:t>
            </a:r>
            <a:r>
              <a:rPr lang="en-US" sz="2000" dirty="0">
                <a:hlinkClick r:id="rId8"/>
              </a:rPr>
              <a:t>(dataset paper)</a:t>
            </a:r>
            <a:endParaRPr lang="en-US" sz="2000" dirty="0"/>
          </a:p>
          <a:p>
            <a:pPr marL="0" indent="0">
              <a:buClr>
                <a:srgbClr val="010000"/>
              </a:buClr>
              <a:buNone/>
            </a:pPr>
            <a:endParaRPr lang="en-US" sz="1600" dirty="0"/>
          </a:p>
          <a:p>
            <a:pPr marL="0" indent="0">
              <a:buClr>
                <a:srgbClr val="010000"/>
              </a:buClr>
              <a:buNone/>
            </a:pPr>
            <a:r>
              <a:rPr lang="en-US" sz="1400" b="1" u="heavy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OpenStreetMap contributors </a:t>
            </a:r>
            <a:r>
              <a:rPr lang="en-US" sz="1400" dirty="0"/>
              <a:t>- required map-data attribution</a:t>
            </a:r>
          </a:p>
          <a:p>
            <a:pPr marL="0" indent="0">
              <a:buClr>
                <a:srgbClr val="010000"/>
              </a:buClr>
              <a:buNone/>
            </a:pPr>
            <a:r>
              <a:rPr lang="en-US" sz="1400" dirty="0">
                <a:hlinkClick r:id="rId9"/>
              </a:rPr>
              <a:t>(openstreetmap.org/copyright)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6B9BFE-E7B9-732C-69B7-ECBAEF0CF9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34" y="1501"/>
            <a:ext cx="1381601" cy="608902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E1A71620-EFF9-6CF7-89F4-D5F5DA6C92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564" y="53455"/>
            <a:ext cx="1686063" cy="6089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AlgoNauts LJIET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4357B0-DFE2-E5FC-ADDC-99A4FFC95C45}"/>
              </a:ext>
            </a:extLst>
          </p:cNvPr>
          <p:cNvSpPr/>
          <p:nvPr/>
        </p:nvSpPr>
        <p:spPr>
          <a:xfrm>
            <a:off x="2746143" y="130983"/>
            <a:ext cx="6883674" cy="69660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1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</a:t>
            </a:r>
            <a:endParaRPr lang="en-US" sz="36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BADCBC-4D48-EAB4-660D-5614ED21CFE1}"/>
              </a:ext>
            </a:extLst>
          </p:cNvPr>
          <p:cNvSpPr/>
          <p:nvPr/>
        </p:nvSpPr>
        <p:spPr>
          <a:xfrm>
            <a:off x="8544233" y="1425677"/>
            <a:ext cx="2644878" cy="10913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b="1" dirty="0">
                <a:solidFill>
                  <a:schemeClr val="tx1"/>
                </a:solidFill>
                <a:latin typeface="TradeGothic"/>
              </a:rPr>
              <a:t>Demo Video:</a:t>
            </a:r>
            <a:r>
              <a:rPr lang="en-US" sz="2300" dirty="0">
                <a:solidFill>
                  <a:schemeClr val="tx1"/>
                </a:solidFill>
                <a:latin typeface="TradeGothic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TradeGothic"/>
                <a:hlinkClick r:id="rId11"/>
              </a:rPr>
              <a:t>Link</a:t>
            </a:r>
            <a:br>
              <a:rPr lang="en-US" sz="2300" dirty="0">
                <a:solidFill>
                  <a:schemeClr val="tx1"/>
                </a:solidFill>
                <a:latin typeface="TradeGothic"/>
              </a:rPr>
            </a:br>
            <a:r>
              <a:rPr lang="en-US" sz="2300" b="1" dirty="0">
                <a:solidFill>
                  <a:schemeClr val="tx1"/>
                </a:solidFill>
                <a:latin typeface="TradeGothic"/>
              </a:rPr>
              <a:t>Source Code:</a:t>
            </a:r>
            <a:r>
              <a:rPr lang="en-US" sz="2300" dirty="0">
                <a:solidFill>
                  <a:schemeClr val="tx1"/>
                </a:solidFill>
                <a:latin typeface="TradeGothic"/>
              </a:rPr>
              <a:t> </a:t>
            </a:r>
            <a:r>
              <a:rPr lang="en-US" sz="2300" dirty="0">
                <a:solidFill>
                  <a:schemeClr val="tx1"/>
                </a:solidFill>
                <a:latin typeface="TradeGothic"/>
                <a:hlinkClick r:id="rId12"/>
              </a:rPr>
              <a:t>Link</a:t>
            </a:r>
            <a:endParaRPr lang="en-US" sz="2300" dirty="0">
              <a:solidFill>
                <a:schemeClr val="tx1"/>
              </a:solidFill>
              <a:latin typeface="TradeGothic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7991</TotalTime>
  <Words>1004</Words>
  <Application>Microsoft Office PowerPoint</Application>
  <PresentationFormat>Widescreen</PresentationFormat>
  <Paragraphs>128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</vt:lpstr>
      <vt:lpstr> </vt:lpstr>
      <vt:lpstr>PowerPoint Presentation</vt:lpstr>
      <vt:lpstr> </vt:lpstr>
      <vt:lpstr> 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Hrishik Patel</cp:lastModifiedBy>
  <cp:revision>152</cp:revision>
  <dcterms:created xsi:type="dcterms:W3CDTF">2013-12-12T18:46:50Z</dcterms:created>
  <dcterms:modified xsi:type="dcterms:W3CDTF">2026-10-01T23:25:33Z</dcterms:modified>
  <cp:category/>
</cp:coreProperties>
</file>